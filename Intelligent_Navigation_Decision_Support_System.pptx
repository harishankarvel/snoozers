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0584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6596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92608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388620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4632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806440"/>
            <a:ext cx="12191695" cy="0"/>
          </a:xfrm>
          <a:prstGeom prst="line">
            <a:avLst/>
          </a:prstGeom>
          <a:noFill/>
          <a:ln w="12700">
            <a:solidFill>
              <a:srgbClr val="1621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3213D"/>
          </a:solidFill>
          <a:ln/>
        </p:spPr>
      </p:sp>
      <p:sp>
        <p:nvSpPr>
          <p:cNvPr id="9" name="Shape 7"/>
          <p:cNvSpPr/>
          <p:nvPr/>
        </p:nvSpPr>
        <p:spPr>
          <a:xfrm rot="720000">
            <a:off x="2331720" y="365760"/>
            <a:ext cx="457200" cy="685800"/>
          </a:xfrm>
          <a:prstGeom prst="roundRect">
            <a:avLst>
              <a:gd name="adj" fmla="val 12000"/>
            </a:avLst>
          </a:prstGeom>
          <a:solidFill>
            <a:srgbClr val="17C3D6"/>
          </a:solidFill>
          <a:ln/>
        </p:spPr>
      </p:sp>
      <p:sp>
        <p:nvSpPr>
          <p:cNvPr id="10" name="Shape 8"/>
          <p:cNvSpPr/>
          <p:nvPr/>
        </p:nvSpPr>
        <p:spPr>
          <a:xfrm rot="720000">
            <a:off x="2331720" y="1737360"/>
            <a:ext cx="457200" cy="685800"/>
          </a:xfrm>
          <a:prstGeom prst="roundRect">
            <a:avLst>
              <a:gd name="adj" fmla="val 12000"/>
            </a:avLst>
          </a:prstGeom>
          <a:solidFill>
            <a:srgbClr val="17C3D6"/>
          </a:solidFill>
          <a:ln/>
        </p:spPr>
      </p:sp>
      <p:sp>
        <p:nvSpPr>
          <p:cNvPr id="11" name="Shape 9"/>
          <p:cNvSpPr/>
          <p:nvPr/>
        </p:nvSpPr>
        <p:spPr>
          <a:xfrm rot="720000">
            <a:off x="2331720" y="3108960"/>
            <a:ext cx="457200" cy="685800"/>
          </a:xfrm>
          <a:prstGeom prst="roundRect">
            <a:avLst>
              <a:gd name="adj" fmla="val 12000"/>
            </a:avLst>
          </a:prstGeom>
          <a:solidFill>
            <a:srgbClr val="17C3D6"/>
          </a:solidFill>
          <a:ln/>
        </p:spPr>
      </p:sp>
      <p:sp>
        <p:nvSpPr>
          <p:cNvPr id="12" name="Shape 10"/>
          <p:cNvSpPr/>
          <p:nvPr/>
        </p:nvSpPr>
        <p:spPr>
          <a:xfrm rot="720000">
            <a:off x="2331720" y="4480560"/>
            <a:ext cx="457200" cy="685800"/>
          </a:xfrm>
          <a:prstGeom prst="roundRect">
            <a:avLst>
              <a:gd name="adj" fmla="val 12000"/>
            </a:avLst>
          </a:prstGeom>
          <a:solidFill>
            <a:srgbClr val="17C3D6"/>
          </a:solidFill>
          <a:ln/>
        </p:spPr>
      </p:sp>
      <p:sp>
        <p:nvSpPr>
          <p:cNvPr id="13" name="Shape 11"/>
          <p:cNvSpPr/>
          <p:nvPr/>
        </p:nvSpPr>
        <p:spPr>
          <a:xfrm rot="720000">
            <a:off x="2331720" y="5852160"/>
            <a:ext cx="457200" cy="685800"/>
          </a:xfrm>
          <a:prstGeom prst="roundRect">
            <a:avLst>
              <a:gd name="adj" fmla="val 12000"/>
            </a:avLst>
          </a:prstGeom>
          <a:solidFill>
            <a:srgbClr val="17C3D6"/>
          </a:solidFill>
          <a:ln/>
        </p:spPr>
      </p:sp>
      <p:sp>
        <p:nvSpPr>
          <p:cNvPr id="14" name="Shape 12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1C3157"/>
          </a:solidFill>
          <a:ln/>
        </p:spPr>
      </p:sp>
      <p:sp>
        <p:nvSpPr>
          <p:cNvPr id="15" name="Shape 13"/>
          <p:cNvSpPr/>
          <p:nvPr/>
        </p:nvSpPr>
        <p:spPr>
          <a:xfrm>
            <a:off x="891540" y="708660"/>
            <a:ext cx="685800" cy="68580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16" name="Text 14"/>
          <p:cNvSpPr/>
          <p:nvPr/>
        </p:nvSpPr>
        <p:spPr>
          <a:xfrm>
            <a:off x="891540" y="7086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685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PROTOTYPE  •  AUTONOMOUS SYSTEMS TRACK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0" y="114300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Navigation &amp;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Decision-Support System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5532120" y="30632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raw sensor detections into explainable, real-time driving guidance — sense, reason, act, and justify every recommendation to a human observer.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532120" y="411480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C3157"/>
          </a:solidFill>
          <a:ln/>
        </p:spPr>
      </p:sp>
      <p:sp>
        <p:nvSpPr>
          <p:cNvPr id="21" name="Text 19"/>
          <p:cNvSpPr/>
          <p:nvPr/>
        </p:nvSpPr>
        <p:spPr>
          <a:xfrm>
            <a:off x="5532120" y="411480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Sensing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532120" y="4114800"/>
            <a:ext cx="1419149" cy="384048"/>
          </a:xfrm>
          <a:prstGeom prst="roundRect">
            <a:avLst>
              <a:gd name="adj" fmla="val 50000"/>
            </a:avLst>
          </a:prstGeom>
          <a:ln w="12700">
            <a:solidFill>
              <a:srgbClr val="17C3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97573" y="411480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1C3157"/>
          </a:solidFill>
          <a:ln/>
        </p:spPr>
      </p:sp>
      <p:sp>
        <p:nvSpPr>
          <p:cNvPr id="24" name="Text 22"/>
          <p:cNvSpPr/>
          <p:nvPr/>
        </p:nvSpPr>
        <p:spPr>
          <a:xfrm>
            <a:off x="7097573" y="411480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Guidance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97573" y="4114800"/>
            <a:ext cx="1901952" cy="384048"/>
          </a:xfrm>
          <a:prstGeom prst="roundRect">
            <a:avLst>
              <a:gd name="adj" fmla="val 50000"/>
            </a:avLst>
          </a:prstGeom>
          <a:ln w="12700">
            <a:solidFill>
              <a:srgbClr val="17C3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32120" y="4626864"/>
            <a:ext cx="1982419" cy="384048"/>
          </a:xfrm>
          <a:prstGeom prst="roundRect">
            <a:avLst>
              <a:gd name="adj" fmla="val 50000"/>
            </a:avLst>
          </a:prstGeom>
          <a:solidFill>
            <a:srgbClr val="1C3157"/>
          </a:solidFill>
          <a:ln/>
        </p:spPr>
      </p:sp>
      <p:sp>
        <p:nvSpPr>
          <p:cNvPr id="27" name="Text 25"/>
          <p:cNvSpPr/>
          <p:nvPr/>
        </p:nvSpPr>
        <p:spPr>
          <a:xfrm>
            <a:off x="5532120" y="4626864"/>
            <a:ext cx="19824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Visual Interface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4626864"/>
            <a:ext cx="1982419" cy="384048"/>
          </a:xfrm>
          <a:prstGeom prst="roundRect">
            <a:avLst>
              <a:gd name="adj" fmla="val 50000"/>
            </a:avLst>
          </a:prstGeom>
          <a:ln w="12700">
            <a:solidFill>
              <a:srgbClr val="17C3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60843" y="4626864"/>
            <a:ext cx="1821485" cy="384048"/>
          </a:xfrm>
          <a:prstGeom prst="roundRect">
            <a:avLst>
              <a:gd name="adj" fmla="val 50000"/>
            </a:avLst>
          </a:prstGeom>
          <a:solidFill>
            <a:srgbClr val="1C3157"/>
          </a:solidFill>
          <a:ln/>
        </p:spPr>
      </p:sp>
      <p:sp>
        <p:nvSpPr>
          <p:cNvPr id="30" name="Text 28"/>
          <p:cNvSpPr/>
          <p:nvPr/>
        </p:nvSpPr>
        <p:spPr>
          <a:xfrm>
            <a:off x="7660843" y="4626864"/>
            <a:ext cx="18214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Logging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60843" y="4626864"/>
            <a:ext cx="1821485" cy="384048"/>
          </a:xfrm>
          <a:prstGeom prst="roundRect">
            <a:avLst>
              <a:gd name="adj" fmla="val 50000"/>
            </a:avLst>
          </a:prstGeom>
          <a:ln w="12700">
            <a:solidFill>
              <a:srgbClr val="17C3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32120" y="6080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7E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judging — Functionality · Innovation · Technicality · Impact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OBJECTIVE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detection alone isn't driving guidance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400"/>
              </a:spcAft>
              <a:buSzPct val="100000"/>
              <a:buChar char="✦"/>
            </a:pPr>
            <a:r>
              <a:rPr lang="en-US" sz="140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perception stacks stop at “object detected” — they don't translate presence into a next move.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1400"/>
              </a:spcAft>
              <a:buSzPct val="100000"/>
              <a:buChar char="✦"/>
            </a:pPr>
            <a:r>
              <a:rPr lang="en-US" sz="140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(and reviewers) need to know WHY a recommendation was made, not just WHAT was seen.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1400"/>
              </a:spcAft>
              <a:buSzPct val="100000"/>
              <a:buChar char="✦"/>
            </a:pPr>
            <a:r>
              <a:rPr lang="en-US" sz="140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must hold up under sensor gaps, conflicting detections, and mid-trip scrutiny.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1400"/>
              </a:spcAft>
              <a:buSzPct val="100000"/>
              <a:buChar char="✦"/>
            </a:pPr>
            <a:r>
              <a:rPr lang="en-US" sz="140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a closed loop from raw detection → risk-scored hazard → justified action → visual proof → logged evidence.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20840" y="1188720"/>
            <a:ext cx="4892040" cy="4297680"/>
          </a:xfrm>
          <a:prstGeom prst="roundRect">
            <a:avLst>
              <a:gd name="adj" fmla="val 2553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0" y="14173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LOOP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972300" y="1943100"/>
            <a:ext cx="502920" cy="50292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8" name="Text 6"/>
          <p:cNvSpPr/>
          <p:nvPr/>
        </p:nvSpPr>
        <p:spPr>
          <a:xfrm>
            <a:off x="6972300" y="19431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0" y="18745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589520" y="217627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sensor detections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0" y="2496312"/>
            <a:ext cx="914" cy="310896"/>
          </a:xfrm>
          <a:prstGeom prst="line">
            <a:avLst/>
          </a:prstGeom>
          <a:noFill/>
          <a:ln w="19050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72300" y="2875788"/>
            <a:ext cx="502920" cy="50292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13" name="Text 11"/>
          <p:cNvSpPr/>
          <p:nvPr/>
        </p:nvSpPr>
        <p:spPr>
          <a:xfrm>
            <a:off x="6972300" y="28757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589520" y="280720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0" y="31089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risk level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23760" y="3429000"/>
            <a:ext cx="914" cy="310896"/>
          </a:xfrm>
          <a:prstGeom prst="line">
            <a:avLst/>
          </a:prstGeom>
          <a:noFill/>
          <a:ln w="19050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972300" y="3808476"/>
            <a:ext cx="502920" cy="50292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18" name="Text 16"/>
          <p:cNvSpPr/>
          <p:nvPr/>
        </p:nvSpPr>
        <p:spPr>
          <a:xfrm>
            <a:off x="6972300" y="38084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589520" y="3739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589520" y="404164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 + justification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23760" y="4361688"/>
            <a:ext cx="914" cy="310896"/>
          </a:xfrm>
          <a:prstGeom prst="line">
            <a:avLst/>
          </a:prstGeom>
          <a:noFill/>
          <a:ln w="19050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972300" y="4741164"/>
            <a:ext cx="502920" cy="50292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23" name="Text 21"/>
          <p:cNvSpPr/>
          <p:nvPr/>
        </p:nvSpPr>
        <p:spPr>
          <a:xfrm>
            <a:off x="6972300" y="47411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89520" y="46725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&amp; Log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89520" y="497433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 + trip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TRACEABILITY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coverage — verified against the brief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472184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07008" y="130759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Environmental Awareness Module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07008" y="15819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events emitted with position (x, y / lane, distance) and a discrete risk level (Low / Medium / High).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309360" y="1234440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0528" y="1472184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67728" y="130759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Guidance Module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67728" y="15819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hazard events into one recommended action (e.g. maintain, slow, brake, reroute) with a stated reasoning trace.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2221992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2459736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07008" y="2295144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Visual 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07008" y="25694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view of vehicle, detected hazards, and current recommendation, updating as the trip runs.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309360" y="2221992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0528" y="2459736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67728" y="2295144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Log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25694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≥ 3 trip metrics: trip time, path deviation, hazard alerts raised (and response latency).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48640" y="3209544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" y="3447288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07008" y="328269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Scenario + Edge Case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07008" y="35570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scripted run, plus graceful handling of a sensor gap AND two conflicting detections.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6309360" y="3209544"/>
            <a:ext cx="5440680" cy="841248"/>
          </a:xfrm>
          <a:prstGeom prst="roundRect">
            <a:avLst>
              <a:gd name="adj" fmla="val 9783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0528" y="3447288"/>
            <a:ext cx="365760" cy="3657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31" name="Text 29"/>
          <p:cNvSpPr/>
          <p:nvPr/>
        </p:nvSpPr>
        <p:spPr>
          <a:xfrm>
            <a:off x="6510528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328269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Decision-Logic Summary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67728" y="35570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Judge-readable explanation of how raw detections become an action, independent of the live demo.</a:t>
            </a:r>
            <a:endParaRPr lang="en-US" sz="1030" dirty="0"/>
          </a:p>
        </p:txBody>
      </p:sp>
      <p:sp>
        <p:nvSpPr>
          <p:cNvPr id="34" name="Shape 32"/>
          <p:cNvSpPr/>
          <p:nvPr/>
        </p:nvSpPr>
        <p:spPr>
          <a:xfrm>
            <a:off x="9357055" y="32004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/>
        </p:spPr>
      </p:sp>
      <p:sp>
        <p:nvSpPr>
          <p:cNvPr id="35" name="Text 33"/>
          <p:cNvSpPr/>
          <p:nvPr/>
        </p:nvSpPr>
        <p:spPr>
          <a:xfrm>
            <a:off x="9357055" y="320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 REQUIREMENTS MET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architecture — sense → reason → act → show → log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1C3157"/>
          </a:solidFill>
          <a:ln w="1270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" y="1417320"/>
            <a:ext cx="1856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Inputs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(camera · LiDAR · radar · GPS)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468880" y="1897380"/>
            <a:ext cx="411480" cy="914"/>
          </a:xfrm>
          <a:prstGeom prst="line">
            <a:avLst/>
          </a:prstGeom>
          <a:noFill/>
          <a:ln w="22225">
            <a:solidFill>
              <a:srgbClr val="17C3D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6080" y="141732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1C3157"/>
          </a:solidFill>
          <a:ln w="12700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80944" y="1417320"/>
            <a:ext cx="2267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Module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 · localize · score risk)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303520" y="1897380"/>
            <a:ext cx="411480" cy="914"/>
          </a:xfrm>
          <a:prstGeom prst="line">
            <a:avLst/>
          </a:prstGeom>
          <a:noFill/>
          <a:ln w="22225">
            <a:solidFill>
              <a:srgbClr val="17C3D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760720" y="14173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15584" y="1417320"/>
            <a:ext cx="1856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Event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pos, type, risk 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26680" y="1897380"/>
            <a:ext cx="411480" cy="914"/>
          </a:xfrm>
          <a:prstGeom prst="line">
            <a:avLst/>
          </a:prstGeom>
          <a:noFill/>
          <a:ln w="22225">
            <a:solidFill>
              <a:srgbClr val="17C3D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83880" y="141732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C3157"/>
          </a:solidFill>
          <a:ln w="12700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38744" y="1417320"/>
            <a:ext cx="2221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Module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(rule engine + reasoning)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515600" y="1897380"/>
            <a:ext cx="411480" cy="914"/>
          </a:xfrm>
          <a:prstGeom prst="line">
            <a:avLst/>
          </a:prstGeom>
          <a:noFill/>
          <a:ln w="22225">
            <a:solidFill>
              <a:srgbClr val="17C3D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972800" y="1417320"/>
            <a:ext cx="685800" cy="960120"/>
          </a:xfrm>
          <a:prstGeom prst="roundRect">
            <a:avLst>
              <a:gd name="adj" fmla="val 10667"/>
            </a:avLst>
          </a:prstGeom>
          <a:solidFill>
            <a:srgbClr val="17C3D6"/>
          </a:solidFill>
          <a:ln w="12700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1027664" y="1417320"/>
            <a:ext cx="576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595360" y="2377440"/>
            <a:ext cx="914" cy="27432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828800" y="2377440"/>
            <a:ext cx="914" cy="27432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2377440"/>
            <a:ext cx="914" cy="27432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2920" y="2697480"/>
            <a:ext cx="3017520" cy="1051560"/>
          </a:xfrm>
          <a:prstGeom prst="roundRect">
            <a:avLst>
              <a:gd name="adj" fmla="val 6957"/>
            </a:avLst>
          </a:prstGeom>
          <a:solidFill>
            <a:srgbClr val="1C3157"/>
          </a:solidFill>
          <a:ln w="1270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57784" y="2697480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Visual Interface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· hazards · recommendation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94760" y="269748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1C3157"/>
          </a:solidFill>
          <a:ln w="1270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849624" y="2697480"/>
            <a:ext cx="2770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Log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time · deviation · alerts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949440" y="269748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1C3157"/>
          </a:solidFill>
          <a:ln w="1270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004304" y="2697480"/>
            <a:ext cx="2679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Trace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shown per decision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0012680" y="269748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067544" y="2697480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Edge-Case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515600" y="1897380"/>
            <a:ext cx="914" cy="800100"/>
          </a:xfrm>
          <a:prstGeom prst="line">
            <a:avLst/>
          </a:prstGeom>
          <a:noFill/>
          <a:ln w="22225">
            <a:solidFill>
              <a:srgbClr val="FF5A5F"/>
            </a:solidFill>
            <a:prstDash val="dash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77240" y="4069080"/>
            <a:ext cx="10972800" cy="0"/>
          </a:xfrm>
          <a:prstGeom prst="line">
            <a:avLst/>
          </a:prstGeom>
          <a:noFill/>
          <a:ln w="15875">
            <a:solidFill>
              <a:srgbClr val="2E4A7A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1750040" y="3749040"/>
            <a:ext cx="914" cy="320040"/>
          </a:xfrm>
          <a:prstGeom prst="line">
            <a:avLst/>
          </a:prstGeom>
          <a:noFill/>
          <a:ln w="22225">
            <a:solidFill>
              <a:srgbClr val="2E4A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303520" y="3895344"/>
            <a:ext cx="1097280" cy="256032"/>
          </a:xfrm>
          <a:prstGeom prst="rect">
            <a:avLst/>
          </a:prstGeom>
          <a:solidFill>
            <a:srgbClr val="0B122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feedback loop — next tick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Environmental Awareness — from raw signal to hazard event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371600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Sensor Feed</a:t>
            </a:r>
            <a:endParaRPr lang="en-US" sz="10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LiDAR / radar / GPS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2697480" y="1760220"/>
            <a:ext cx="182880" cy="914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80360" y="137160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35224" y="1371600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Tracking</a:t>
            </a:r>
            <a:endParaRPr lang="en-US" sz="10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object, id, velocity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0" y="1760220"/>
            <a:ext cx="182880" cy="914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12080" y="137160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66944" y="1371600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0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lane + distance from ego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360920" y="1760220"/>
            <a:ext cx="182880" cy="914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37160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98664" y="1371600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0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+ proximity/TTC model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692640" y="1760220"/>
            <a:ext cx="182880" cy="914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75520" y="13716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30384" y="1371600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Event</a:t>
            </a:r>
            <a:endParaRPr lang="en-US" sz="10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8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{ pos, type, risk }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48640" y="2514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Risk-level scoring detail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292608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260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73736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present, no path intersection predicted — log only.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456432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564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737360" y="34564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within caution distance / converging trajectory — alert raised.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986784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5A5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98678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37360" y="39867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Imminent path conflict or short time-to-collision — immediate action required.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37960" y="2514600"/>
            <a:ext cx="5120640" cy="3063240"/>
          </a:xfrm>
          <a:prstGeom prst="roundRect">
            <a:avLst>
              <a:gd name="adj" fmla="val 2985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1228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HAZARD EVENT (JSON)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12280" y="3017520"/>
            <a:ext cx="4572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"event_id": "HZ-0021",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"timestamp": "T+00:14.2s",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"pedestrian",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"position": { "lane": 1, "dist_m": 18.4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"relative_speed_mps": -2.1,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"risk_level": "MEDIUM",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"confidence": 0.91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Guidance Module — hazard event to justified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46320" y="137160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01184" y="13716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Event Received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0760" y="2011680"/>
            <a:ext cx="914" cy="32004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480560" y="2377440"/>
            <a:ext cx="3200400" cy="685800"/>
          </a:xfrm>
          <a:prstGeom prst="roundRect">
            <a:avLst>
              <a:gd name="adj" fmla="val 10667"/>
            </a:avLst>
          </a:prstGeom>
          <a:solidFill>
            <a:srgbClr val="1C3157"/>
          </a:solidFill>
          <a:ln w="12700">
            <a:solidFill>
              <a:srgbClr val="1C3157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35424" y="2377440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H="1">
            <a:off x="2194560" y="3063240"/>
            <a:ext cx="3886200" cy="27432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508760" y="3108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31089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32918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3DDC97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3232" y="344728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 Course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3232" y="3813048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path conflict predicted; continue at planned speed, log event for the trip record.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 flipH="1">
            <a:off x="5920740" y="3063240"/>
            <a:ext cx="160020" cy="274320"/>
          </a:xfrm>
          <a:prstGeom prst="line">
            <a:avLst/>
          </a:prstGeom>
          <a:noFill/>
          <a:ln w="22225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234940" y="3108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5234940" y="31089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60520" y="33375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25112" y="3447288"/>
            <a:ext cx="3191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Prepare to Yield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25112" y="3813048"/>
            <a:ext cx="3191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Converging trajectory within caution window; reduce speed, raise a driver alert, re-evaluate next tick.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080760" y="3063240"/>
            <a:ext cx="3726180" cy="274320"/>
          </a:xfrm>
          <a:prstGeom prst="line">
            <a:avLst/>
          </a:prstGeom>
          <a:noFill/>
          <a:ln w="22225">
            <a:solidFill>
              <a:srgbClr val="FF5A5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21140" y="3108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5A5F"/>
          </a:solidFill>
          <a:ln/>
        </p:spPr>
      </p:sp>
      <p:sp>
        <p:nvSpPr>
          <p:cNvPr id="23" name="Text 21"/>
          <p:cNvSpPr/>
          <p:nvPr/>
        </p:nvSpPr>
        <p:spPr>
          <a:xfrm>
            <a:off x="9121140" y="31089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01000" y="3337560"/>
            <a:ext cx="36118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FF5A5F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65592" y="3447288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Brake / Reroute Now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65592" y="3813048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Time-to-collision below safety threshold; execute immediate avoidance and flag for review.</a:t>
            </a:r>
            <a:endParaRPr lang="en-US" sz="107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4800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trace attached to every action: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“Action = Slow &amp; Prepare to Yield  →  because hazard=pedestrian, risk=MEDIUM, distance=18.4m, closing speed=2.1m/s, TTC=8.7s &lt; caution threshold(10s).”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VISUAL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observer sees, in real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223760" cy="4709160"/>
          </a:xfrm>
          <a:prstGeom prst="roundRect">
            <a:avLst>
              <a:gd name="adj" fmla="val 2330"/>
            </a:avLst>
          </a:prstGeom>
          <a:solidFill>
            <a:srgbClr val="0E1830"/>
          </a:solidFill>
          <a:ln w="1270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691640"/>
            <a:ext cx="6492240" cy="4069080"/>
          </a:xfrm>
          <a:prstGeom prst="rect">
            <a:avLst/>
          </a:prstGeom>
          <a:solidFill>
            <a:srgbClr val="16233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0" y="187452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0" y="237744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0" y="288036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9" name="Shape 7"/>
          <p:cNvSpPr/>
          <p:nvPr/>
        </p:nvSpPr>
        <p:spPr>
          <a:xfrm>
            <a:off x="4114800" y="338328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0" y="388620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0" y="438912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0" y="489204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0" y="5394960"/>
            <a:ext cx="91440" cy="256032"/>
          </a:xfrm>
          <a:prstGeom prst="rect">
            <a:avLst/>
          </a:prstGeom>
          <a:solidFill>
            <a:srgbClr val="3A537F"/>
          </a:solidFill>
          <a:ln/>
        </p:spPr>
      </p:sp>
      <p:sp>
        <p:nvSpPr>
          <p:cNvPr id="14" name="Shape 12"/>
          <p:cNvSpPr/>
          <p:nvPr/>
        </p:nvSpPr>
        <p:spPr>
          <a:xfrm>
            <a:off x="3904488" y="4709160"/>
            <a:ext cx="512064" cy="822960"/>
          </a:xfrm>
          <a:prstGeom prst="roundRect">
            <a:avLst>
              <a:gd name="adj" fmla="val 17857"/>
            </a:avLst>
          </a:prstGeom>
          <a:solidFill>
            <a:srgbClr val="17C3D6"/>
          </a:solidFill>
          <a:ln/>
        </p:spPr>
      </p:sp>
      <p:sp>
        <p:nvSpPr>
          <p:cNvPr id="15" name="Text 13"/>
          <p:cNvSpPr/>
          <p:nvPr/>
        </p:nvSpPr>
        <p:spPr>
          <a:xfrm>
            <a:off x="3904488" y="4709160"/>
            <a:ext cx="512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965192" y="2359152"/>
            <a:ext cx="402336" cy="402336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77977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96312" y="3273552"/>
            <a:ext cx="402336" cy="402336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1720" y="369417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07992" y="4370832"/>
            <a:ext cx="402336" cy="402336"/>
          </a:xfrm>
          <a:prstGeom prst="ellipse">
            <a:avLst/>
          </a:prstGeom>
          <a:solidFill>
            <a:srgbClr val="3DDC9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479145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68680" y="5394960"/>
            <a:ext cx="6583680" cy="457200"/>
          </a:xfrm>
          <a:prstGeom prst="roundRect">
            <a:avLst>
              <a:gd name="adj" fmla="val 16000"/>
            </a:avLst>
          </a:prstGeom>
          <a:solidFill>
            <a:srgbClr val="1C3157"/>
          </a:solidFill>
          <a:ln w="12700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23544" y="5394960"/>
            <a:ext cx="6473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RECOMMENDATION: Slow &amp; Prepare to Yield — pedestrian, MEDIUM risk, 18.4m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010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ELEMENTS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10144" y="1746504"/>
            <a:ext cx="310896" cy="310896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26" name="Text 24"/>
          <p:cNvSpPr/>
          <p:nvPr/>
        </p:nvSpPr>
        <p:spPr>
          <a:xfrm>
            <a:off x="8010144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58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marker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458200" y="19933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 position + heading, updated per tick.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10144" y="2505456"/>
            <a:ext cx="310896" cy="310896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30" name="Text 28"/>
          <p:cNvSpPr/>
          <p:nvPr/>
        </p:nvSpPr>
        <p:spPr>
          <a:xfrm>
            <a:off x="8010144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58200" y="2496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markers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58200" y="275234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by risk (green / amber / coral) with type label.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10144" y="3264408"/>
            <a:ext cx="310896" cy="310896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34" name="Text 32"/>
          <p:cNvSpPr/>
          <p:nvPr/>
        </p:nvSpPr>
        <p:spPr>
          <a:xfrm>
            <a:off x="8010144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458200" y="32552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 banner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458200" y="351129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action + one-line reasoning, always visible.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10144" y="4023360"/>
            <a:ext cx="310896" cy="310896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38" name="Text 36"/>
          <p:cNvSpPr/>
          <p:nvPr/>
        </p:nvSpPr>
        <p:spPr>
          <a:xfrm>
            <a:off x="8010144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58200" y="4014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scrubber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4582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 to any point in the trip to audit a past decision.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10144" y="4782312"/>
            <a:ext cx="310896" cy="310896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42" name="Text 40"/>
          <p:cNvSpPr/>
          <p:nvPr/>
        </p:nvSpPr>
        <p:spPr>
          <a:xfrm>
            <a:off x="801014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458200" y="4773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ticker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458200" y="5029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feed of hazard alerts as they're raised.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metrics captured on every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73152" cy="1828800"/>
          </a:xfrm>
          <a:prstGeom prst="rect">
            <a:avLst/>
          </a:prstGeom>
          <a:solidFill>
            <a:srgbClr val="17C3D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TIME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4m 52s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duration from trip start to destination reached.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371600"/>
            <a:ext cx="73152" cy="18288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DEVIATION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 0.34 m avg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offset between planned route and actual driven path.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371600"/>
            <a:ext cx="73152" cy="1828800"/>
          </a:xfrm>
          <a:prstGeom prst="rect">
            <a:avLst/>
          </a:prstGeom>
          <a:solidFill>
            <a:srgbClr val="FF5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ALERTS RAISED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3796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events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MEDIUM/HIGH hazard events surfaced during the trip.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897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1371600"/>
            <a:ext cx="73152" cy="182880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DECISION LATENCY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41832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 ms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41832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hazard event received to action recommended.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log excerpt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06640" cy="214884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1188720"/>
                <a:gridCol w="1920240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1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1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1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157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T+00:00.0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 start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T+00:14.2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Hazard: pedestrian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&amp; prepare to yield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T+00:22.7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cleared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planned speed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T+01:03.4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Hazard: stalled vehicle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Brake / reroute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T+04:52.1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 end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0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 reached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8229600" y="352044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50392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METRICS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503920" y="40233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✦"/>
            </a:pPr>
            <a:r>
              <a:rPr lang="en-US" sz="108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time &amp; deviation show driving quality, not just safety.</a:t>
            </a:r>
            <a:endParaRPr lang="en-US" sz="108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✦"/>
            </a:pPr>
            <a:r>
              <a:rPr lang="en-US" sz="108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 under known scenario = repeatable regression signal.</a:t>
            </a:r>
            <a:endParaRPr lang="en-US" sz="1080" dirty="0"/>
          </a:p>
          <a:p>
            <a:pPr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✦"/>
            </a:pPr>
            <a:r>
              <a:rPr lang="en-US" sz="108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proves the loop is fast enough to act on, not just log.</a:t>
            </a:r>
            <a:endParaRPr lang="en-US" sz="1080" dirty="0"/>
          </a:p>
        </p:txBody>
      </p:sp>
      <p:sp>
        <p:nvSpPr>
          <p:cNvPr id="29" name="Text 26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cases — graceful handling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A — Sensor Gap / Dropout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3504" y="1691640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feed silent &gt; 300ms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2313432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49631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" y="2496312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stream as STALE, freeze last known hazard state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3118104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30098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" y="330098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back to conservative default: reduce speed, widen following gap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3922776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41056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" y="4105656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“Limited visibility” notice on live interface + log the gap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B — Conflicting Detections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18504" y="1691640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sensors report differing risk for same region</a:t>
            </a:r>
            <a:endParaRPr lang="en-US" sz="106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camera=LOW, radar=HIGH)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8961120" y="2313432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63640" y="249631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18504" y="2496312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conflict-resolution rule:</a:t>
            </a:r>
            <a:endParaRPr lang="en-US" sz="106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HIGHER risk estimate (fail-safe bias)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8961120" y="3118104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330098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18504" y="330098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with a 3rd modality if available;</a:t>
            </a:r>
            <a:endParaRPr lang="en-US" sz="106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weight by sensor confidence score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8961120" y="3922776"/>
            <a:ext cx="914" cy="182880"/>
          </a:xfrm>
          <a:prstGeom prst="line">
            <a:avLst/>
          </a:prstGeom>
          <a:noFill/>
          <a:ln w="22225">
            <a:solidFill>
              <a:srgbClr val="0E8FA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41056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18504" y="4105656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the disagreement + resolution reasoning</a:t>
            </a:r>
            <a:endParaRPr lang="en-US" sz="106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060" b="1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post-trip audit</a:t>
            </a:r>
            <a:endParaRPr lang="en-US" sz="1060" dirty="0"/>
          </a:p>
        </p:txBody>
      </p:sp>
      <p:sp>
        <p:nvSpPr>
          <p:cNvPr id="28" name="Shape 26"/>
          <p:cNvSpPr/>
          <p:nvPr/>
        </p:nvSpPr>
        <p:spPr>
          <a:xfrm>
            <a:off x="548640" y="580644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5806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principle:  </a:t>
            </a:r>
            <a:pPr indent="0" marL="0">
              <a:buNone/>
            </a:pPr>
            <a:r>
              <a:rPr lang="en-US" sz="1200" i="1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uncertain, degrade to the safer action — never to “no action.”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scenario — one trip, start to finish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17320" y="2331720"/>
            <a:ext cx="9354312" cy="0"/>
          </a:xfrm>
          <a:prstGeom prst="line">
            <a:avLst/>
          </a:prstGeom>
          <a:noFill/>
          <a:ln w="38100">
            <a:solidFill>
              <a:srgbClr val="DCE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6736" y="2231136"/>
            <a:ext cx="201168" cy="201168"/>
          </a:xfrm>
          <a:prstGeom prst="ellipse">
            <a:avLst/>
          </a:prstGeom>
          <a:solidFill>
            <a:srgbClr val="17C3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2057400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197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T+00:00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1399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Start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1673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planned, all sensors nominal.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875788" y="2231136"/>
            <a:ext cx="201168" cy="20116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6372" y="2432304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6252" y="260604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061972" y="26609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T+00:14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61972" y="28620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Pedestrian detected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61972" y="3136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 → slow &amp; prepare to yield.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434840" y="2231136"/>
            <a:ext cx="201168" cy="201168"/>
          </a:xfrm>
          <a:prstGeom prst="ellipse">
            <a:avLst/>
          </a:prstGeom>
          <a:solidFill>
            <a:srgbClr val="3DDC9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057400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75304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21024" y="1197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T+00:23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21024" y="1399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cleared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21024" y="1673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planned speed &amp; route.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993892" y="2231136"/>
            <a:ext cx="201168" cy="201168"/>
          </a:xfrm>
          <a:prstGeom prst="ellipse">
            <a:avLst/>
          </a:prstGeom>
          <a:solidFill>
            <a:srgbClr val="FF5A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4476" y="2432304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34356" y="260604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180076" y="26609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T+00:41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80076" y="28620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gap (edge case)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80076" y="3136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dropout → conservative fallback engaged.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7552944" y="2231136"/>
            <a:ext cx="201168" cy="201168"/>
          </a:xfrm>
          <a:prstGeom prst="ellipse">
            <a:avLst/>
          </a:prstGeom>
          <a:solidFill>
            <a:srgbClr val="FF5A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53528" y="2057400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3408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739128" y="1197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T+01:03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739128" y="1399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Stalled vehicle, HIGH risk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39128" y="1673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brake + reroute executed.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9111996" y="2231136"/>
            <a:ext cx="201168" cy="20116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12580" y="2432304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52460" y="260604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98180" y="26609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T+01:15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98180" y="28620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Conflicting reads (edge case)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98180" y="3136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vs. camera disagree → fail-safe resolution applied.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>
            <a:off x="10671048" y="2231136"/>
            <a:ext cx="201168" cy="201168"/>
          </a:xfrm>
          <a:prstGeom prst="ellipse">
            <a:avLst/>
          </a:prstGeom>
          <a:solidFill>
            <a:srgbClr val="17C3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71632" y="2057400"/>
            <a:ext cx="0" cy="173736"/>
          </a:xfrm>
          <a:prstGeom prst="line">
            <a:avLst/>
          </a:prstGeom>
          <a:noFill/>
          <a:ln w="12700">
            <a:solidFill>
              <a:srgbClr val="C7D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11512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857232" y="1197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T+04:52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857232" y="1399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 End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857232" y="1673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reached; full log finalized.</a:t>
            </a:r>
            <a:endParaRPr lang="en-US" sz="830" dirty="0"/>
          </a:p>
        </p:txBody>
      </p:sp>
      <p:sp>
        <p:nvSpPr>
          <p:cNvPr id="47" name="Shape 45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required edge cases — a sensor gap and conflicting detections — occur naturally within this single run, alongside three ordinary hazard encounters, demonstrating the full loop without a separate staged demo.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JUDGES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Decision-logic summary — read alongside the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903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detection becomes a recommendation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6903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✦"/>
            </a:pPr>
            <a:r>
              <a:rPr lang="en-US" sz="123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layer converts each raw detection into a structured hazard event: object type, lane-relative position, distance, closing speed, and a confidence score.</a:t>
            </a:r>
            <a:endParaRPr lang="en-US" sz="123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✦"/>
            </a:pPr>
            <a:r>
              <a:rPr lang="en-US" sz="123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applies a time-to-collision (TTC) and proximity model to bucket every event into LOW / MEDIUM / HIGH — thresholds are fixed and inspectable, not a black box.</a:t>
            </a:r>
            <a:endParaRPr lang="en-US" sz="123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✦"/>
            </a:pPr>
            <a:r>
              <a:rPr lang="en-US" sz="123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guidance module maps each risk bucket to one of a small, fixed action set (maintain, slow &amp; yield, brake/reroute) via explicit rules, so the same inputs always justify the same output.</a:t>
            </a:r>
            <a:endParaRPr lang="en-US" sz="123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✦"/>
            </a:pPr>
            <a:r>
              <a:rPr lang="en-US" sz="123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carries its reasoning trace — the specific numbers that triggered it — shown on the live interface and written to the log, so any decision can be audited after the fact.</a:t>
            </a:r>
            <a:endParaRPr lang="en-US" sz="123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✦"/>
            </a:pPr>
            <a:r>
              <a:rPr lang="en-US" sz="123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and gaps are resolved by a fail-safe bias: when signals disagree or go missing, the system always degrades toward the more cautious action, never toward inaction.</a:t>
            </a:r>
            <a:endParaRPr lang="en-US" sz="1230" dirty="0"/>
          </a:p>
        </p:txBody>
      </p:sp>
      <p:sp>
        <p:nvSpPr>
          <p:cNvPr id="6" name="Shape 4"/>
          <p:cNvSpPr/>
          <p:nvPr/>
        </p:nvSpPr>
        <p:spPr>
          <a:xfrm>
            <a:off x="7772400" y="1234440"/>
            <a:ext cx="3886200" cy="4709160"/>
          </a:xfrm>
          <a:prstGeom prst="roundRect">
            <a:avLst>
              <a:gd name="adj" fmla="val 2353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0" y="1417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QUICK-REFERENCE RULE TABLE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046720" y="2340864"/>
            <a:ext cx="3337560" cy="0"/>
          </a:xfrm>
          <a:prstGeom prst="line">
            <a:avLst/>
          </a:prstGeom>
          <a:noFill/>
          <a:ln w="9525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182880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TTC &gt; 10s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0" y="20482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course   ·   LOW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2944368"/>
            <a:ext cx="3337560" cy="0"/>
          </a:xfrm>
          <a:prstGeom prst="line">
            <a:avLst/>
          </a:prstGeom>
          <a:noFill/>
          <a:ln w="9525">
            <a:solidFill>
              <a:srgbClr val="274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43230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4s &lt; TTC ≤ 10s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&amp; prepare to yield   ·   MEDIUM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3547872"/>
            <a:ext cx="3337560" cy="0"/>
          </a:xfrm>
          <a:prstGeom prst="line">
            <a:avLst/>
          </a:prstGeom>
          <a:noFill/>
          <a:ln w="9525">
            <a:solidFill>
              <a:srgbClr val="2740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303580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TTC ≤ 4s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46720" y="325526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/ reroute   ·   HIGH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4151376"/>
            <a:ext cx="3337560" cy="0"/>
          </a:xfrm>
          <a:prstGeom prst="line">
            <a:avLst/>
          </a:prstGeom>
          <a:noFill/>
          <a:ln w="9525">
            <a:solidFill>
              <a:srgbClr val="27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363931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stale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46720" y="3858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reduce speed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46720" y="4754880"/>
            <a:ext cx="3337560" cy="0"/>
          </a:xfrm>
          <a:prstGeom prst="line">
            <a:avLst/>
          </a:prstGeom>
          <a:noFill/>
          <a:ln w="9525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424281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conflict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46720" y="446227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higher risk estimate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project scores across all four axes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1C3157"/>
          </a:solidFill>
          <a:ln w="15875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16916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required module is built and wired end-to-end — not a mockup.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1C3157"/>
          </a:solidFill>
          <a:ln w="15875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0" y="16916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Fail-safe reasoning and explainability-by-default, not bolted on after.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88620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1C3157"/>
          </a:solidFill>
          <a:ln w="15875">
            <a:solidFill>
              <a:srgbClr val="3DDC97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160520"/>
            <a:ext cx="640080" cy="64008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⟡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45920" y="41605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Technicality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60120" y="493776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reasoning engine with inspectable thresholds and full audit trail.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1C3157"/>
          </a:solidFill>
          <a:ln w="15875">
            <a:solidFill>
              <a:srgbClr val="FF5A5F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160520"/>
            <a:ext cx="640080" cy="640080"/>
          </a:xfrm>
          <a:prstGeom prst="ellipse">
            <a:avLst/>
          </a:prstGeom>
          <a:solidFill>
            <a:srgbClr val="FF5A5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315200" y="41605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629400" y="493776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any AV/ADAS team can trust because it can justify itself.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 — every piece runs, together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675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module continuously emits hazard events with position + risk, not static test data.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module consumes those events live and returns an action with reasoning on every tick.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interface reflects vehicle, hazards, and current recommendation in sync with the log.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scenario run exercises all modules together, including both required edge cases.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23360" cy="4480560"/>
          </a:xfrm>
          <a:prstGeom prst="roundRect">
            <a:avLst>
              <a:gd name="adj" fmla="val 2727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35240" y="1371600"/>
            <a:ext cx="82296" cy="4480560"/>
          </a:xfrm>
          <a:prstGeom prst="rect">
            <a:avLst/>
          </a:prstGeom>
          <a:solidFill>
            <a:srgbClr val="17C3D6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WIRED END-TO-END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01000" y="196596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modules integrated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01000" y="3246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Evidenced in the live demo, the performance log, and the architecture diagram — not asserted in slides alone.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— explainability as a first-class output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675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trace is generated alongside the action, not reconstructed after the fact for the demo.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Fail-safe conflict resolution always biases toward the safer action under uncertainty.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scrubber lets an observer audit any past decision mid-trip, not just at the end.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generalizes beyond driving — any sense→reason→act loop needing accountability.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23360" cy="4480560"/>
          </a:xfrm>
          <a:prstGeom prst="roundRect">
            <a:avLst>
              <a:gd name="adj" fmla="val 2727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35240" y="1371600"/>
            <a:ext cx="82296" cy="44805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01000" y="196596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Explain‑by‑default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reasoning, not after‑the‑fact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01000" y="3246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Evidenced in the live demo, the performance log, and the architecture diagram — not asserted in slides alone.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Technicality — inspectable, not a black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675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uses a transparent time-to-collision + proximity model with fixed, documented thresholds.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mapping is a small explicit rule set — identical inputs always justify identical outputs.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events are structured (typed, positioned, risk-scored) for clean module-to-module contracts.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Edge-case logic (stale-sensor fallback, conflict resolution) is deterministic and independently testable.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23360" cy="4480560"/>
          </a:xfrm>
          <a:prstGeom prst="roundRect">
            <a:avLst>
              <a:gd name="adj" fmla="val 2727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35240" y="1371600"/>
            <a:ext cx="82296" cy="448056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TECHNIQUE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01000" y="196596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Rule‑based reasoning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+ audit trail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01000" y="3246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Evidenced in the live demo, the performance log, and the architecture diagram — not asserted in slides alone.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— the trust problem this actually solves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675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can justify itself is one a driver, tester, or regulator can actually review.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logging turns every trip into a repeatable regression test, not a one-off demo.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Fail-safe defaults reduce risk exactly where autonomy is least certain — gaps and conflicts.</a:t>
            </a:r>
            <a:endParaRPr lang="en-US" sz="132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✦"/>
            </a:pPr>
            <a:r>
              <a:rPr lang="en-US" sz="1320" dirty="0">
                <a:solidFill>
                  <a:srgbClr val="10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reusable pattern for ADAS features, delivery robots, and any human-supervised autonomy.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23360" cy="4480560"/>
          </a:xfrm>
          <a:prstGeom prst="roundRect">
            <a:avLst>
              <a:gd name="adj" fmla="val 2727"/>
            </a:avLst>
          </a:prstGeom>
          <a:solidFill>
            <a:srgbClr val="13213D"/>
          </a:solidFill>
          <a:ln w="12700">
            <a:solidFill>
              <a:srgbClr val="13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35240" y="1371600"/>
            <a:ext cx="82296" cy="4480560"/>
          </a:xfrm>
          <a:prstGeom prst="rect">
            <a:avLst/>
          </a:prstGeom>
          <a:solidFill>
            <a:srgbClr val="FF5A5F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01000" y="196596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Drivers · Reviewers ·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Regulators · Engineers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01000" y="3246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AF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Evidenced in the live demo, the performance log, and the architecture diagram — not asserted in slides alone.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1C3157"/>
          </a:solidFill>
          <a:ln/>
        </p:spPr>
      </p:sp>
      <p:sp>
        <p:nvSpPr>
          <p:cNvPr id="3" name="Shape 1"/>
          <p:cNvSpPr/>
          <p:nvPr/>
        </p:nvSpPr>
        <p:spPr>
          <a:xfrm>
            <a:off x="891540" y="708660"/>
            <a:ext cx="685800" cy="685800"/>
          </a:xfrm>
          <a:prstGeom prst="ellipse">
            <a:avLst/>
          </a:prstGeom>
          <a:solidFill>
            <a:srgbClr val="17C3D6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" y="7086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21488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 it. Explain it.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on it — safely.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200"/>
              </a:spcAft>
              <a:buSzPct val="100000"/>
              <a:buChar char="✦"/>
            </a:pPr>
            <a:r>
              <a:rPr lang="en-US" sz="13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required modules built, connected, and demonstrated in one live end-to-end run.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SzPct val="100000"/>
              <a:buChar char="✦"/>
            </a:pPr>
            <a:r>
              <a:rPr lang="en-US" sz="13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visible at every step — to the driver during the trip, to judges after it.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SzPct val="100000"/>
              <a:buChar char="✦"/>
            </a:pPr>
            <a:r>
              <a:rPr lang="en-US" sz="13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gaps and conflicting detections are handled by design, not avoided in the demo.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595360" y="2103120"/>
            <a:ext cx="3063240" cy="3291840"/>
          </a:xfrm>
          <a:prstGeom prst="roundRect">
            <a:avLst>
              <a:gd name="adj" fmla="val 3582"/>
            </a:avLst>
          </a:prstGeom>
          <a:solidFill>
            <a:srgbClr val="1C3157"/>
          </a:solidFill>
          <a:ln w="12700">
            <a:solidFill>
              <a:srgbClr val="17C3D6"/>
            </a:solidFill>
            <a:prstDash val="solid"/>
          </a:ln>
          <a:effectLst>
            <a:outerShdw sx="100000" sy="100000" kx="0" ky="0" algn="bl" rotWithShape="0" blurRad="76200" dist="25400" dir="5400000">
              <a:srgbClr val="0B122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95360" y="24231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32520" y="292608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live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NAVIGATION &amp; DECISION-SUPPORT SYSTEM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2026-09-01T07:10:14Z</dcterms:created>
  <dcterms:modified xsi:type="dcterms:W3CDTF">2026-09-01T07:10:14Z</dcterms:modified>
</cp:coreProperties>
</file>